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npmjs.com/package/@cpsagentkit/mcp-server" TargetMode="External" /><Relationship Id="rId3" Type="http://schemas.openxmlformats.org/officeDocument/2006/relationships/hyperlink" Target="https://github.com/nlloydjenkins/CPSAgentKit" TargetMode="External" /><Relationship Id="rId4" Type="http://schemas.openxmlformats.org/officeDocument/2006/relationships/hyperlink" Target="https://learn.microsoft.com/en-us/microsoft-copilot-studio/" TargetMode="External" /><Relationship Id="rId5" Type="http://schemas.openxmlformats.org/officeDocument/2006/relationships/hyperlink" Target="https://admin.powerplatform.microsoft.com/" TargetMode="Externa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Copilot Studio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Practical Guide for Builders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Getting Started</a:t>
            </a:r>
            <a:r>
              <a:rPr/>
              <a:t> — Platform fundamentals &amp; key limits</a:t>
            </a:r>
          </a:p>
          <a:p>
            <a:pPr lvl="0" indent="-342900" marL="342900">
              <a:buAutoNum type="arabicPeriod"/>
            </a:pPr>
            <a:r>
              <a:rPr b="1"/>
              <a:t>Agent Design</a:t>
            </a:r>
            <a:r>
              <a:rPr/>
              <a:t> — Instructions, knowledge &amp; orchestration</a:t>
            </a:r>
          </a:p>
          <a:p>
            <a:pPr lvl="0" indent="-342900" marL="342900">
              <a:buAutoNum type="arabicPeriod"/>
            </a:pPr>
            <a:r>
              <a:rPr b="1"/>
              <a:t>Topics</a:t>
            </a:r>
            <a:r>
              <a:rPr/>
              <a:t> — When and how to use them</a:t>
            </a:r>
          </a:p>
          <a:p>
            <a:pPr lvl="0" indent="-342900" marL="342900">
              <a:buAutoNum type="arabicPeriod"/>
            </a:pPr>
            <a:r>
              <a:rPr b="1"/>
              <a:t>Tools &amp; Connectors</a:t>
            </a:r>
            <a:r>
              <a:rPr/>
              <a:t> — Connecting to external systems</a:t>
            </a:r>
          </a:p>
          <a:p>
            <a:pPr lvl="0" indent="-342900" marL="342900">
              <a:buAutoNum type="arabicPeriod"/>
            </a:pPr>
            <a:r>
              <a:rPr b="1"/>
              <a:t>Multi-Agent Patterns</a:t>
            </a:r>
            <a:r>
              <a:rPr/>
              <a:t> — When one agent isn’t enough</a:t>
            </a:r>
          </a:p>
          <a:p>
            <a:pPr lvl="0" indent="-342900" marL="342900">
              <a:buAutoNum type="arabicPeriod"/>
            </a:pPr>
            <a:r>
              <a:rPr b="1"/>
              <a:t>ALM &amp; Governance</a:t>
            </a:r>
            <a:r>
              <a:rPr/>
              <a:t> — Lifecycle, security &amp; compliance</a:t>
            </a:r>
          </a:p>
          <a:p>
            <a:pPr lvl="0" indent="-342900" marL="342900">
              <a:buAutoNum type="arabicPeriod"/>
            </a:pPr>
            <a:r>
              <a:rPr b="1"/>
              <a:t>Gotchas &amp; Anti-Patterns</a:t>
            </a:r>
            <a:r>
              <a:rPr/>
              <a:t> — What will catch you out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1: Getting Started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Copilot Studio?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Low-code platform for building AI agents on the Power Platform</a:t>
            </a:r>
          </a:p>
          <a:p>
            <a:pPr lvl="0"/>
            <a:r>
              <a:rPr/>
              <a:t>Agents can answer questions, perform actions, and orchestrate workflows</a:t>
            </a:r>
          </a:p>
          <a:p>
            <a:pPr lvl="0"/>
            <a:r>
              <a:rPr/>
              <a:t>Publishes to Teams, web, M365 Copilot, and other channels</a:t>
            </a:r>
          </a:p>
          <a:p>
            <a:pPr lvl="0"/>
            <a:r>
              <a:rPr/>
              <a:t>Two orchestration modes: </a:t>
            </a:r>
            <a:r>
              <a:rPr b="1"/>
              <a:t>Classic</a:t>
            </a:r>
            <a:r>
              <a:rPr/>
              <a:t> (rule-based) and </a:t>
            </a:r>
            <a:r>
              <a:rPr b="1"/>
              <a:t>Generative</a:t>
            </a:r>
            <a:r>
              <a:rPr/>
              <a:t> (AI-planned)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Limits to Know Before You Build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It Matters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Instructions field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8,000 characters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single most important config — ~1,500 words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Tools per agent (practical)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25–30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Routing degrades beyond this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Topics per 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250 in Teams environments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Connector payload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MB (public) / 450 KB (GCC)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GCC is dramatically lower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 knowledge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 files max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not apply to SharePoint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SharePoint file size (no M365 Copilot licence)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Files over 7 MB are </a:t>
                      </a:r>
                      <a:r>
                        <a:rPr b="1"/>
                        <a:t>silently ignored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Rate Limits — They Will Bite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Trial/dev environments:</a:t>
            </a:r>
            <a:r>
              <a:rPr/>
              <a:t> 10 requests per minute — you </a:t>
            </a:r>
            <a:r>
              <a:rPr b="1"/>
              <a:t>will</a:t>
            </a:r>
            <a:r>
              <a:rPr/>
              <a:t> hit this during testing</a:t>
            </a:r>
          </a:p>
          <a:p>
            <a:pPr lvl="0"/>
            <a:r>
              <a:rPr b="1"/>
              <a:t>Production (pay-as-you-go):</a:t>
            </a:r>
            <a:r>
              <a:rPr/>
              <a:t> 100 RPM / 2,000 RPH</a:t>
            </a:r>
          </a:p>
          <a:p>
            <a:pPr lvl="0"/>
            <a:r>
              <a:rPr/>
              <a:t>No graceful degradation — agent simply stops responding</a:t>
            </a:r>
          </a:p>
          <a:p>
            <a:pPr lvl="0"/>
            <a:r>
              <a:rPr/>
              <a:t>Even 5–10 daily active users can trigger limits on lower tiers</a:t>
            </a:r>
          </a:p>
          <a:p>
            <a:pPr lvl="0" indent="0" marL="1270000">
              <a:buNone/>
            </a:pPr>
            <a:r>
              <a:rPr sz="2000" b="1"/>
              <a:t>Tip:</a:t>
            </a:r>
            <a:r>
              <a:rPr sz="2000"/>
              <a:t> Check your billing tier before promising anything to stakeholders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Generative vs Classic Orchestration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Generative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How it routes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Trigger phrases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reads descriptions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Called explicitly from topics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Invoked dynamically by the planner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Knowledge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Fallback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Proactively queried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Best for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High-compliance, predictable flows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Flexible, multi-intent conversations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Language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English only</a:t>
                      </a:r>
                      <a:r>
                        <a:rPr/>
                        <a:t> (orchestration layer)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Start with generative</a:t>
            </a:r>
            <a:r>
              <a:rPr sz="2000"/>
              <a:t> unless you have a specific reason for classic. You can always add deterministic topics for critical paths.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2: Agent Design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Instructions — Your Most Important 8,000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include:</a:t>
            </a:r>
            <a:r>
              <a:rPr/>
              <a:t> - Role and persona (“You are an IT support agent for Contoso”) - Response format preferences (lists, tables, concise vs detailed) - Scope boundaries (“Do NOT answer questions about competitor products”) - Tool usage rules (“Always use </a:t>
            </a:r>
            <a:r>
              <a:rPr>
                <a:latin typeface="Courier"/>
              </a:rPr>
              <a:t>CheckOrderStatus</a:t>
            </a:r>
            <a:r>
              <a:rPr/>
              <a:t> for order queries”)</a:t>
            </a:r>
          </a:p>
          <a:p>
            <a:pPr lvl="0" indent="0" marL="0">
              <a:buNone/>
            </a:pPr>
            <a:r>
              <a:rPr b="1"/>
              <a:t>What to avoid:</a:t>
            </a:r>
            <a:r>
              <a:rPr/>
              <a:t> - Too vague: “Help users with their questions” - Too restrictive: scripting every response defeats the purpose - Contradictory rules: “always be brief” + “provide detailed explanations” - Referencing tools that aren’t connected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T-C-R Framework for Instructions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the agent should accomplish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information and constraints apply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Requirements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format, tone, and boundaries must be met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Task
You are an IT Help Desk agent for Contoso. You help employees 
resolve technical issues and answer IT policy questions.
## Context  
You have access to the IT Knowledge Base and can create 
support tickets via the CreateTicket tool.
## Requirements
- Always verify the employee's department before creating tickets
- Use bullet points for step-by-step instructions
- Escalate security-related issues immediately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Three Control Layers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production agent should implement these: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to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Deterministic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Irreversible actions, compliance-critical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Payment processing, record deletion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Hybrid (Intercept)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Medium-risk, needs oversight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Approval workflows, value-limit gates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 Orchestrator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Low-risk, flexible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Q&amp;A, information lookups, multi-step research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Rule:</a:t>
            </a:r>
            <a:r>
              <a:rPr sz="2000"/>
              <a:t> If it can’t be undone, don’t let the AI decide alone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3: Topics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 Use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 topics for:</a:t>
            </a:r>
            <a:r>
              <a:rPr/>
              <a:t> - Deterministic processes with fixed steps - Structured data collection (forms, intake flows) - Compliance-critical paths that must be reproducible - Actions that need explicit user confirmation</a:t>
            </a:r>
          </a:p>
          <a:p>
            <a:pPr lvl="0" indent="0" marL="0">
              <a:buNone/>
            </a:pPr>
            <a:r>
              <a:rPr b="1"/>
              <a:t>Don’t use topics for:</a:t>
            </a:r>
            <a:r>
              <a:rPr/>
              <a:t> - Simple Q&amp;A that knowledge sources can handle - One-off lookups the orchestrator can route to a tool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Designing Topics for Generative Orchestration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Generative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5–10 trigger phrases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Clear natural language description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Naming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Anything works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Active, descriptive: </a:t>
                      </a:r>
                      <a:r>
                        <a:rPr>
                          <a:latin typeface="Courier"/>
                        </a:rPr>
                        <a:t>ResetPassword</a:t>
                      </a:r>
                      <a:r>
                        <a:rPr/>
                        <a:t> not </a:t>
                      </a:r>
                      <a:r>
                        <a:rPr>
                          <a:latin typeface="Courier"/>
                        </a:rPr>
                        <a:t>Flow1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Inputs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 nodes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Auto-prompted from input names — make them human-friendly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Outputs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 messages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output variables — let the orchestrator compose the response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Key:</a:t>
            </a:r>
            <a:r>
              <a:rPr sz="2000"/>
              <a:t> Descriptions are the primary routing mechanism. They matter more than instructions for topic selection.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 Design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One topic = one intent.</a:t>
            </a:r>
            <a:r>
              <a:rPr/>
              <a:t> Don’t bundle “check order” and “cancel order” in one topic</a:t>
            </a:r>
          </a:p>
          <a:p>
            <a:pPr lvl="0"/>
            <a:r>
              <a:rPr b="1"/>
              <a:t>Avoid overlapping descriptions.</a:t>
            </a:r>
            <a:r>
              <a:rPr/>
              <a:t> If two topics sound similar, the agent invokes both</a:t>
            </a:r>
          </a:p>
          <a:p>
            <a:pPr lvl="0"/>
            <a:r>
              <a:rPr b="1"/>
              <a:t>Use output variables</a:t>
            </a:r>
            <a:r>
              <a:rPr/>
              <a:t> instead of sending messages directly — lets the orchestrator compose the final response</a:t>
            </a:r>
          </a:p>
          <a:p>
            <a:pPr lvl="0"/>
            <a:r>
              <a:rPr b="1"/>
              <a:t>Define clear input parameters</a:t>
            </a:r>
            <a:r>
              <a:rPr/>
              <a:t> with descriptions — the orchestrator uses these to auto-prompt users</a:t>
            </a:r>
          </a:p>
          <a:p>
            <a:pPr lvl="0" indent="0">
              <a:buNone/>
            </a:pPr>
            <a:r>
              <a:rPr>
                <a:latin typeface="Courier"/>
              </a:rPr>
              <a:t>Topic: ResetPassword
Description: "Resets a user's Active Directory password when they 
report being locked out or having forgotten their password"
Input: username (string) - "The employee's network username"
Output: resetResult - "Confirmation message with temporary password"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4: Tools &amp; Connectors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Single purpose.</a:t>
            </a:r>
            <a:r>
              <a:rPr/>
              <a:t> Each tool does one thing well</a:t>
            </a:r>
          </a:p>
          <a:p>
            <a:pPr lvl="0" indent="-342900" marL="342900">
              <a:buAutoNum type="arabicPeriod"/>
            </a:pPr>
            <a:r>
              <a:rPr b="1"/>
              <a:t>Deterministic.</a:t>
            </a:r>
            <a:r>
              <a:rPr/>
              <a:t> Same inputs → same outputs. Non-deterministic tools confuse the planner</a:t>
            </a:r>
          </a:p>
          <a:p>
            <a:pPr lvl="0" indent="-342900" marL="342900">
              <a:buAutoNum type="arabicPeriod"/>
            </a:pPr>
            <a:r>
              <a:rPr b="1"/>
              <a:t>Names matter more than descriptions.</a:t>
            </a:r>
            <a:r>
              <a:rPr/>
              <a:t> Use </a:t>
            </a:r>
            <a:r>
              <a:rPr>
                <a:latin typeface="Courier"/>
              </a:rPr>
              <a:t>TranslateText</a:t>
            </a:r>
            <a:r>
              <a:rPr/>
              <a:t>, not </a:t>
            </a:r>
            <a:r>
              <a:rPr>
                <a:latin typeface="Courier"/>
              </a:rPr>
              <a:t>Action_3</a:t>
            </a:r>
          </a:p>
          <a:p>
            <a:pPr lvl="0" indent="-342900" marL="342900">
              <a:buAutoNum type="arabicPeriod"/>
            </a:pPr>
            <a:r>
              <a:rPr b="1"/>
              <a:t>Curate aggressively.</a:t>
            </a:r>
            <a:r>
              <a:rPr/>
              <a:t> Fewer high-quality tools &gt; many overlapping tools</a:t>
            </a:r>
          </a:p>
          <a:p>
            <a:pPr lvl="0" indent="-342900" marL="342900">
              <a:buAutoNum type="arabicPeriod"/>
            </a:pPr>
            <a:r>
              <a:rPr b="1"/>
              <a:t>Every input needs a description.</a:t>
            </a:r>
            <a:r>
              <a:rPr/>
              <a:t> Missing descriptions cause the orchestrator to prompt the user unnecessarily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Connector Action Inputs — Get This 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autonomous agents (no user to prompt), input config is critical:</a:t>
            </a:r>
          </a:p>
          <a:p>
            <a:pPr lvl="0"/>
            <a:r>
              <a:rPr b="1"/>
              <a:t>Every dynamic input needs a description</a:t>
            </a:r>
            <a:r>
              <a:rPr/>
              <a:t> — without one, the orchestrator prompts the user even when it has the value</a:t>
            </a:r>
          </a:p>
          <a:p>
            <a:pPr lvl="0"/>
            <a:r>
              <a:rPr b="1"/>
              <a:t>State the value source:</a:t>
            </a:r>
            <a:r>
              <a:rPr/>
              <a:t> “from the trigger context”, “from step 3 output” — not just the format</a:t>
            </a:r>
          </a:p>
          <a:p>
            <a:pPr lvl="0"/>
            <a:r>
              <a:rPr b="1"/>
              <a:t>Lock down system fields:</a:t>
            </a:r>
            <a:r>
              <a:rPr/>
              <a:t> Import Sequence Number, Time Zone Rule, UTC Conversion — set to custom values or remove</a:t>
            </a:r>
          </a:p>
          <a:p>
            <a:pPr lvl="0"/>
            <a:r>
              <a:rPr b="1"/>
              <a:t>Primary keys:</a:t>
            </a:r>
            <a:r>
              <a:rPr/>
              <a:t> Set to </a:t>
            </a:r>
            <a:r>
              <a:rPr>
                <a:latin typeface="Courier"/>
              </a:rPr>
              <a:t>GUID()</a:t>
            </a:r>
            <a:r>
              <a:rPr/>
              <a:t> for Dataverse “Add a new row” actions</a:t>
            </a:r>
          </a:p>
          <a:p>
            <a:pPr lvl="0"/>
            <a:r>
              <a:rPr b="1"/>
              <a:t>Choice columns:</a:t>
            </a:r>
            <a:r>
              <a:rPr/>
              <a:t> Include integer mappings in the input description, not just instructions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 Connector vs MCP Server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Connector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MCP Server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Best for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Power Platform-native APIs, SharePoint, Dataverse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External SaaS APIs, cross-platform tool sharing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Allow/deny tool controls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Included in solutions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Must be deployed separately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Multi-platform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Power Platform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MCP-aware client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Local dev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Stdio transport for local testing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Heuristic:</a:t>
            </a:r>
            <a:r>
              <a:rPr sz="2000"/>
              <a:t> If it’s in the connector ecosystem or needs DLP → Custom Connector. If it’s external or shared across platforms → MCP Server.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 Automate Flows — Know the Gotchas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Flows run as the maker by default</a:t>
            </a:r>
            <a:r>
              <a:rPr/>
              <a:t> — not the end user</a:t>
            </a:r>
          </a:p>
          <a:p>
            <a:pPr lvl="0"/>
            <a:r>
              <a:rPr b="1"/>
              <a:t>100-second timeout</a:t>
            </a:r>
            <a:r>
              <a:rPr/>
              <a:t> — if the flow takes longer, the agent gets nothing</a:t>
            </a:r>
          </a:p>
          <a:p>
            <a:pPr lvl="0"/>
            <a:r>
              <a:rPr/>
              <a:t>Put long-running logic </a:t>
            </a:r>
            <a:r>
              <a:rPr b="1"/>
              <a:t>after</a:t>
            </a:r>
            <a:r>
              <a:rPr/>
              <a:t> the “Return value(s) to Copilot Studio” step</a:t>
            </a:r>
          </a:p>
          <a:p>
            <a:pPr lvl="0"/>
            <a:r>
              <a:rPr/>
              <a:t>Use a </a:t>
            </a:r>
            <a:r>
              <a:rPr b="1"/>
              <a:t>dedicated service account</a:t>
            </a:r>
            <a:r>
              <a:rPr/>
              <a:t> for production flows — not a personal maker account</a:t>
            </a:r>
          </a:p>
          <a:p>
            <a:pPr lvl="0"/>
            <a:r>
              <a:rPr/>
              <a:t>If the maker leaves the org, all flows using their credentials </a:t>
            </a:r>
            <a:r>
              <a:rPr b="1"/>
              <a:t>break silently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5: Multi-Agent Patterns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 Go Multi-Agent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 multi-agent when:</a:t>
            </a:r>
            <a:r>
              <a:rPr/>
              <a:t> - Different business domains need separate knowledge and tools (HR, IT, Finance) - Different teams need to maintain agents independently - A single agent exceeds 25–30 tools or 8,000 chars of instructions</a:t>
            </a:r>
          </a:p>
          <a:p>
            <a:pPr lvl="0" indent="0" marL="0">
              <a:buNone/>
            </a:pPr>
            <a:r>
              <a:rPr b="1"/>
              <a:t>Don’t use multi-agent when:</a:t>
            </a:r>
            <a:r>
              <a:rPr/>
              <a:t> - A single well-designed agent covers the use case - You need shared MCP tools across agents (parent-proxying is painful) - You need deterministic routing (generative agent selection can be unpredictable)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MCP Limitation You Must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Child agents CANNOT invoke their own MCP servers.</a:t>
            </a:r>
          </a:p>
          <a:p>
            <a:pPr lvl="0" indent="0" marL="0">
              <a:buNone/>
            </a:pPr>
            <a:r>
              <a:rPr/>
              <a:t>MCP tool invocation fails when the server is attached to a child agent. All MCP calls must go through the parent agent.</a:t>
            </a:r>
          </a:p>
          <a:p>
            <a:pPr lvl="0" indent="0" marL="0">
              <a:buNone/>
            </a:pPr>
            <a:r>
              <a:rPr b="1"/>
              <a:t>Impact:</a:t>
            </a:r>
            <a:r>
              <a:rPr/>
              <a:t> You cannot give each child agent its own external tools via MCP. The parent must own all external integrations. This fundamentally limits the specialisation model.</a:t>
            </a:r>
          </a:p>
          <a:p>
            <a:pPr lvl="0" indent="0" marL="0">
              <a:buNone/>
            </a:pPr>
            <a:r>
              <a:rPr b="1"/>
              <a:t>Workaround:</a:t>
            </a:r>
            <a:r>
              <a:rPr/>
              <a:t> Configure all MCP tools on the parent and use child agents only for conversation logic and knowledge retrieval.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 Passing Between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orchestrator passes context when delegating to child agents</a:t>
            </a:r>
          </a:p>
          <a:p>
            <a:pPr lvl="0"/>
            <a:r>
              <a:rPr b="1"/>
              <a:t>But:</a:t>
            </a:r>
            <a:r>
              <a:rPr/>
              <a:t> Connected agent responses are always summarised — citations and links get stripped</a:t>
            </a:r>
          </a:p>
          <a:p>
            <a:pPr lvl="0"/>
            <a:r>
              <a:rPr/>
              <a:t>10-turn conversation history limit — store critical state in variables</a:t>
            </a:r>
          </a:p>
          <a:p>
            <a:pPr lvl="0"/>
            <a:r>
              <a:rPr/>
              <a:t>Test interaction flows thoroughly — receiving agents can return incomplete responses</a:t>
            </a:r>
          </a:p>
          <a:p>
            <a:pPr lvl="0" indent="0" marL="1270000">
              <a:buNone/>
            </a:pPr>
            <a:r>
              <a:rPr sz="2000" b="1"/>
              <a:t>Tip:</a:t>
            </a:r>
            <a:r>
              <a:rPr sz="2000"/>
              <a:t> Instruct the parent to preserve child output as a labelled block rather than paraphrasing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6: ALM &amp; Governance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ALM — The Honest Truth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ALM is the </a:t>
            </a:r>
            <a:r>
              <a:rPr b="1"/>
              <a:t>single biggest pain point</a:t>
            </a:r>
            <a:r>
              <a:rPr/>
              <a:t> for enterprise CPS deployments.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Managed solutions produce vague SQL errors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Knowledge/connection references don’t transfer cleanly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Deleted knowledge sources persist in the 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Ghost references cause import failures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version diffing or rollback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Can’t compare versions or undo a bad publish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Knowledge sources don’t process on import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Must manually re-add in every target environment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ALM — What You Should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Work inside Solutions from day one</a:t>
            </a:r>
            <a:r>
              <a:rPr/>
              <a:t> — it’s painful, but not using solutions is worse</a:t>
            </a:r>
          </a:p>
          <a:p>
            <a:pPr lvl="0" indent="-342900" marL="342900">
              <a:buAutoNum type="arabicPeriod"/>
            </a:pPr>
            <a:r>
              <a:rPr b="1"/>
              <a:t>Separate environments</a:t>
            </a:r>
            <a:r>
              <a:rPr/>
              <a:t> for Dev, Test, Prod with distinct DLP policies</a:t>
            </a:r>
          </a:p>
          <a:p>
            <a:pPr lvl="0" indent="-342900" marL="342900">
              <a:buAutoNum type="arabicPeriod"/>
            </a:pPr>
            <a:r>
              <a:rPr b="1"/>
              <a:t>Document agent config manually</a:t>
            </a:r>
            <a:r>
              <a:rPr/>
              <a:t> — keep a changelog outside the platform</a:t>
            </a:r>
          </a:p>
          <a:p>
            <a:pPr lvl="0" indent="-342900" marL="342900">
              <a:buAutoNum type="arabicPeriod"/>
            </a:pPr>
            <a:r>
              <a:rPr b="1"/>
              <a:t>Test knowledge sources after every import</a:t>
            </a:r>
            <a:r>
              <a:rPr/>
              <a:t> — never assume they transferred</a:t>
            </a:r>
          </a:p>
          <a:p>
            <a:pPr lvl="0" indent="-342900" marL="342900">
              <a:buAutoNum type="arabicPeriod"/>
            </a:pPr>
            <a:r>
              <a:rPr b="1"/>
              <a:t>Use deployment pipelines</a:t>
            </a:r>
            <a:r>
              <a:rPr/>
              <a:t> (in-product or Azure DevOps / GitHub)</a:t>
            </a:r>
          </a:p>
          <a:p>
            <a:pPr lvl="0" indent="0" marL="1270000">
              <a:buNone/>
            </a:pPr>
            <a:r>
              <a:rPr sz="2000" b="1"/>
              <a:t>Critical:</a:t>
            </a:r>
            <a:r>
              <a:rPr sz="2000"/>
              <a:t> Build knowledge source re-processing into your deployment runbook from the start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Authentication — The Architecture Decision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Choose early — changing later means reworking everything: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to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 Requirement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End user (delegated)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Actions need user attribution, per-user data 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Teams, authenticated webchat, M365 Copilot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Service account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Background processing, autonomous agents, system integrations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channel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Mixed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Flow connections independently run as user or maker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Depends on each connection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SharePoint does NOT support service principals.</a:t>
            </a:r>
            <a:r>
              <a:rPr sz="2000"/>
              <a:t> Knowledge grounding requires user authentication.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DLP — Configure Before Builders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DLP became </a:t>
            </a:r>
            <a:r>
              <a:rPr b="1"/>
              <a:t>mandatory</a:t>
            </a:r>
            <a:r>
              <a:rPr/>
              <a:t> for all tenants in early 2025.</a:t>
            </a:r>
          </a:p>
          <a:p>
            <a:pPr lvl="0" indent="0" marL="0">
              <a:buNone/>
            </a:pPr>
            <a:r>
              <a:rPr b="1"/>
              <a:t>What you can control:</a:t>
            </a:r>
            <a:r>
              <a:rPr/>
              <a:t> - Block “No authentication” agents - Block specific knowledge source types (SharePoint, public websites) - Block specific connectors as tools - Block HTTP requests - Block publishing channels (Teams, Direct Line, Facebook) - Control event triggers for autonomous agents</a:t>
            </a:r>
          </a:p>
          <a:p>
            <a:pPr lvl="0" indent="0" marL="1270000">
              <a:buNone/>
            </a:pPr>
            <a:r>
              <a:rPr sz="2000" b="1"/>
              <a:t>If no channels are unblocked, agents can’t be published at all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7: Gotchas &amp; Anti-Patterns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Silent Failures — The Most Dangerous Category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break without telling you: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Happens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SharePoint files &gt; 7 MB (no M365 Copilot licence)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Silently ignored — no error, just no answers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Sensitivity-labelled documents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Show “Ready” but never provide responses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Knowledge “Ready” 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Shows Ready → In Progress → Ready. First “Ready” is a lie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ACS channel 28 KB limit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Variables silently dropped on handoff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Deleted knowledge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Removed from UI but persist in the API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Generative Orchestration Gotchas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Instructions are guidance, not hard rules.</a:t>
            </a:r>
            <a:r>
              <a:rPr/>
              <a:t> The agent can and will deviate if the LLM reasons differently. Enforce critical constraints through topic logic, not instructions alone.</a:t>
            </a:r>
          </a:p>
          <a:p>
            <a:pPr lvl="0"/>
            <a:r>
              <a:rPr b="1"/>
              <a:t>“Do not” is weaker than “always”.</a:t>
            </a:r>
            <a:r>
              <a:rPr/>
              <a:t> “Always redirect pricing to sales” works better than “Do not answer pricing questions”</a:t>
            </a:r>
          </a:p>
          <a:p>
            <a:pPr lvl="0"/>
            <a:r>
              <a:rPr b="1"/>
              <a:t>Long instructions dilute important rules.</a:t>
            </a:r>
            <a:r>
              <a:rPr/>
              <a:t> Front-load your most critical constraints</a:t>
            </a:r>
          </a:p>
          <a:p>
            <a:pPr lvl="0"/>
            <a:r>
              <a:rPr b="1"/>
              <a:t>Same query, different results in different contexts.</a:t>
            </a:r>
            <a:r>
              <a:rPr/>
              <a:t> The agent uses conversation history — test in realistic scenarios, not just a clean test panel</a:t>
            </a:r>
          </a:p>
          <a:p>
            <a:pPr lvl="0"/>
            <a:r>
              <a:rPr b="1"/>
              <a:t>Overlapping topic descriptions = double invocation.</a:t>
            </a:r>
            <a:r>
              <a:rPr/>
              <a:t> Test and narrow descriptions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 Filtering — Zero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When a response is blocked by content filtering: </a:t>
            </a:r>
            <a:r>
              <a:rPr b="1"/>
              <a:t>no logging, no reason code, no detail</a:t>
            </a:r>
          </a:p>
          <a:p>
            <a:pPr lvl="0"/>
            <a:r>
              <a:rPr/>
              <a:t>You cannot tune or override the built-in filter</a:t>
            </a:r>
          </a:p>
          <a:p>
            <a:pPr lvl="0"/>
            <a:r>
              <a:rPr/>
              <a:t>If legitimate content triggers it (medical, legal, security), your only option is a support ticket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Anti-Patterns to Avoid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Anti-Pattern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It’s 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This Instead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Dumping every SharePoint site as knowledge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Poor retrieval, irrelevant answers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Curate — only add sources that answer real user questions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Using Excel/spreadsheets as knowledge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Agents can’t run code for analysis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connectors for analytical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50+ tools on one 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Routing degrades, latency increases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 into connected agents at 25–30 tools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auth on production agents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Anyone with a link can chat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DLP to block “No authentication”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Testing only in the test panel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panel uses maker credentials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in the target channel with real user credentials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Ignoring knowledge re-processing after import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Answers stop working in target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 re-processing into your deployment runbook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Design Rules of Thumb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Agentic first, procedural only when necessary</a:t>
            </a:r>
          </a:p>
          <a:p>
            <a:pPr lvl="0" indent="-342900" marL="342900">
              <a:buAutoNum type="arabicPeriod"/>
            </a:pPr>
            <a:r>
              <a:rPr b="1"/>
              <a:t>One agent = one domain</a:t>
            </a:r>
            <a:r>
              <a:rPr/>
              <a:t> (25–30 tool max)</a:t>
            </a:r>
          </a:p>
          <a:p>
            <a:pPr lvl="0" indent="-342900" marL="342900">
              <a:buAutoNum type="arabicPeriod"/>
            </a:pPr>
            <a:r>
              <a:rPr b="1"/>
              <a:t>Topics for control, generative for flexibility</a:t>
            </a:r>
          </a:p>
          <a:p>
            <a:pPr lvl="0" indent="-342900" marL="342900">
              <a:buAutoNum type="arabicPeriod"/>
            </a:pPr>
            <a:r>
              <a:rPr b="1"/>
              <a:t>Knowledge for reference, connectors for transactions</a:t>
            </a:r>
          </a:p>
          <a:p>
            <a:pPr lvl="0" indent="-342900" marL="342900">
              <a:buAutoNum type="arabicPeriod"/>
            </a:pPr>
            <a:r>
              <a:rPr b="1"/>
              <a:t>Start with the narrowest scope — expand only when testing proves you need more</a:t>
            </a:r>
          </a:p>
          <a:p>
            <a:pPr lvl="0" indent="-342900" marL="342900">
              <a:buAutoNum type="arabicPeriod"/>
            </a:pPr>
            <a:r>
              <a:rPr b="1"/>
              <a:t>Name everything for the model</a:t>
            </a:r>
            <a:r>
              <a:rPr/>
              <a:t> — if it’s unclear to a human, it’s unclear to the AI</a:t>
            </a:r>
          </a:p>
          <a:p>
            <a:pPr lvl="0" indent="-342900" marL="342900">
              <a:buAutoNum type="arabicPeriod"/>
            </a:pPr>
            <a:r>
              <a:rPr b="1"/>
              <a:t>Every write action needs confirmation</a:t>
            </a:r>
          </a:p>
          <a:p>
            <a:pPr lvl="0" indent="-342900" marL="342900">
              <a:buAutoNum type="arabicPeriod"/>
            </a:pPr>
            <a:r>
              <a:rPr b="1"/>
              <a:t>DLP and ALM from day one</a:t>
            </a:r>
          </a:p>
          <a:p>
            <a:pPr lvl="0" indent="-342900" marL="342900">
              <a:buAutoNum type="arabicPeriod"/>
            </a:pPr>
            <a:r>
              <a:rPr b="1"/>
              <a:t>Re-evaluate after every model upgrade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Instructions are your #1 lever</a:t>
            </a:r>
            <a:r>
              <a:rPr/>
              <a:t> — get the 8,000 characters right before anything else</a:t>
            </a:r>
          </a:p>
          <a:p>
            <a:pPr lvl="0"/>
            <a:r>
              <a:rPr b="1"/>
              <a:t>Know your limits</a:t>
            </a:r>
            <a:r>
              <a:rPr/>
              <a:t> — rate limits, tool counts, file sizes before you promise features</a:t>
            </a:r>
          </a:p>
          <a:p>
            <a:pPr lvl="0"/>
            <a:r>
              <a:rPr b="1"/>
              <a:t>Silent failures are everywhere</a:t>
            </a:r>
            <a:r>
              <a:rPr/>
              <a:t> — test thoroughly, don’t trust “Ready” status</a:t>
            </a:r>
          </a:p>
          <a:p>
            <a:pPr lvl="0"/>
            <a:r>
              <a:rPr b="1"/>
              <a:t>ALM is painful but essential</a:t>
            </a:r>
            <a:r>
              <a:rPr/>
              <a:t> — work in solutions from day one, document everything</a:t>
            </a:r>
          </a:p>
          <a:p>
            <a:pPr lvl="0"/>
            <a:r>
              <a:rPr b="1"/>
              <a:t>Start small</a:t>
            </a:r>
            <a:r>
              <a:rPr/>
              <a:t> — fewer tools, tighter scope, expand based on testing</a:t>
            </a:r>
          </a:p>
          <a:p>
            <a:pPr lvl="0"/>
            <a:r>
              <a:rPr b="1"/>
              <a:t>Test in the real channel</a:t>
            </a:r>
            <a:r>
              <a:rPr/>
              <a:t> — test panel ≠ production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CPSAgentKit MCP Server</a:t>
            </a:r>
            <a:r>
              <a:rPr/>
              <a:t> — </a:t>
            </a:r>
            <a:r>
              <a:rPr>
                <a:latin typeface="Courier"/>
              </a:rPr>
              <a:t>npx @cpsagentkit/mcp-server</a:t>
            </a:r>
            <a:r>
              <a:rPr/>
              <a:t> for AI-assisted CPS guidance</a:t>
            </a:r>
          </a:p>
          <a:p>
            <a:pPr lvl="0"/>
            <a:r>
              <a:rPr>
                <a:hlinkClick r:id="rId3"/>
              </a:rPr>
              <a:t>CPSAgentKit VS Code Extension</a:t>
            </a:r>
            <a:r>
              <a:rPr/>
              <a:t> — scaffolding, assessment, and knowledge sync</a:t>
            </a:r>
          </a:p>
          <a:p>
            <a:pPr lvl="0"/>
            <a:r>
              <a:rPr>
                <a:hlinkClick r:id="rId4"/>
              </a:rPr>
              <a:t>Microsoft Copilot Studio Documentation</a:t>
            </a:r>
          </a:p>
          <a:p>
            <a:pPr lvl="0"/>
            <a:r>
              <a:rPr>
                <a:hlinkClick r:id="rId5"/>
              </a:rPr>
              <a:t>Power Platform Admin Center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2026-04-24T12:11:48Z</dcterms:created>
  <dcterms:modified xsi:type="dcterms:W3CDTF">2026-04-24T12:11:48Z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